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2" r:id="rId6"/>
    <p:sldId id="261" r:id="rId7"/>
    <p:sldId id="264" r:id="rId8"/>
    <p:sldId id="265" r:id="rId9"/>
    <p:sldId id="267" r:id="rId10"/>
    <p:sldId id="268" r:id="rId11"/>
    <p:sldId id="263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B096-F14E-D100-37BF-514783052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AED76-A962-FB4E-5024-61EE73BE1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0EC5-9E69-0208-5316-C0C6CC56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D883-2E8A-DC0E-494F-53FC247E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96F65-C3D6-512B-49E3-74A305AB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2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F771-21AB-8D55-31D9-619C2513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AF67-C07A-DF49-0189-49AB6E04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504B5-6F06-8101-B9CB-233BB484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77A11-E45E-2920-6D4A-D40D5079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7DF07-048C-95D0-FD71-34C78D72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31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C7CA-FB66-5249-78D2-CB4EE2A7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8B4B0-63D5-A63B-595E-117C21738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78CF-2762-C422-877D-31A2A5B96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130C-44E8-114F-DE5D-A7439A09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0BA5-B6FC-C289-A781-75C62E4C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84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D103-F647-4CB2-4078-ED08D8B8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F35D-BB87-AFCD-7862-49BAF0FE4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A9AF8-7070-46D6-1B11-B5A7403AE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ACD99-9386-18C9-6156-64452755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A703C-BF54-2A55-9908-36A4B9E8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7BD09-2E71-0B50-BC0A-5E53EB3F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51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0214-6387-EE0B-4F16-6AA3EA25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AF561-935A-B72E-DADD-1187E924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CB092-72BC-B2F5-44AC-13BC90909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89630-696C-5838-9A22-0A673AFB4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07F35-C525-3A7B-918B-5D35A22DB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481AE-0259-7E92-BF2B-53A63F2C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EFBF2-5EEC-B5D9-4681-3B1D5316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696DE-8829-EF02-253F-18F04BDE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14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BD79-B99A-A3DB-8315-46FAB8F0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E23B1-1AE9-6EC5-3C65-96CDA76F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37337-2B2C-278F-C95C-1C1F882E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E296F-2341-B0AA-73C6-7CCC4B08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4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90673-8186-0304-903B-8170CD71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972C1-871D-C02A-9A35-904C8D54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2C891-2435-509E-D3F8-761E7112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3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E994-2974-B4D2-E943-2A4E5B67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1E96-BBB8-9325-2C01-92178D047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B1F17-76BA-6834-F6D5-1EF6802A9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F422-07FD-35CA-66B4-D5D2AA12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D868D-DA4E-7EEE-EC3C-97665C6B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666D9-52BC-43D0-6E46-2A3D22F3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75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B91A-C845-2C01-6CB7-F55514CF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82D09-5E79-41C8-043B-657D6669B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3ADC-ED8D-B7AA-1334-C6CB3E96D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CC97A-D957-4A34-1138-98B56F54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069FB-32E2-54E9-6702-332FF315A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70FFC-6E91-E95D-5606-30B2CAC2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4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34B7-E928-5803-D094-C977EDEF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D5C6A-0170-C648-2D9A-9CDBD7594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ED36-3F9D-7122-C9D1-F11CD6B17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0AB76-2A33-DC1F-E04C-22AF6AB7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E8B1-09C7-8FBA-ECA3-F4190A03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513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1A6A1-A49C-3174-B24C-DB5B067A8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20D1C-265A-6E58-B470-E0B1B5D21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69AC6-9B01-2F22-CFD7-2FA8554A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6297F-401D-997B-99D9-5D88DC00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64D21-F9D1-79CA-19B3-568C4D93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66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040A8-91C9-0923-75C5-D908F642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BD097-0633-1538-A519-A2518293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557A1-6EA3-8B3F-970C-0C7F2C465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9EC1F-B300-42FC-88D5-F9A8A5522C02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30176-9BE8-FB27-280A-0A92CF2B3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5788-47A9-19FC-570E-5F1FB4273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84163-AFD8-41C1-98F1-22C31E428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59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4855-576E-B77D-C39C-709796D81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Image Upscaling using Quantum Bilinear Interpolation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AEBB7-77E6-12EE-EA6D-4EFC65E9C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Anshuman Sahu</a:t>
            </a:r>
          </a:p>
        </p:txBody>
      </p:sp>
    </p:spTree>
    <p:extLst>
      <p:ext uri="{BB962C8B-B14F-4D97-AF65-F5344CB8AC3E}">
        <p14:creationId xmlns:p14="http://schemas.microsoft.com/office/powerpoint/2010/main" val="353521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8A3A-6994-5B3F-0228-8A636B3D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Bilinear Interpolation in General (1D)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FDA10A-60AA-5742-C544-9CF73F3C7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4500" y="1483703"/>
            <a:ext cx="6322999" cy="47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28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310F-92A7-317F-99C3-87444779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63713-597C-D675-8A76-9FEBAEAA4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57" y="2110892"/>
            <a:ext cx="11031685" cy="263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7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CEFA-5EEF-2147-54F5-B09F1232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Bilinear Interpolation Method In image pixels (2D)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7E1686-3623-27EE-5F67-B9699A651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9219" y="1690688"/>
            <a:ext cx="6021341" cy="472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7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AAED-4D13-FE71-FB6D-AD53128D8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arrive at the final formula: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4485-369A-BA9E-AE06-269BDAA90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1: Do 1D Bilinear interpolation horizontally till a fractional distance w between |</a:t>
            </a:r>
            <a:r>
              <a:rPr lang="en-IN" dirty="0" err="1"/>
              <a:t>Cyx</a:t>
            </a:r>
            <a:r>
              <a:rPr lang="en-IN" dirty="0"/>
              <a:t>&gt; and |Cy,x+1&gt; (Top 2 pixels) Say it to be a </a:t>
            </a:r>
            <a:r>
              <a:rPr lang="en-IN" dirty="0" err="1"/>
              <a:t>gray</a:t>
            </a:r>
            <a:r>
              <a:rPr lang="en-IN" dirty="0"/>
              <a:t> value C1</a:t>
            </a:r>
          </a:p>
          <a:p>
            <a:r>
              <a:rPr lang="en-IN" dirty="0"/>
              <a:t>Step 2: Do same 1D Bilinear Interpolation horizontally till a fractional distance w between |Cy+1,x&gt; and |Cy+1,x+1&gt; (Bottom 2 pixels) say it to be a </a:t>
            </a:r>
            <a:r>
              <a:rPr lang="en-IN" dirty="0" err="1"/>
              <a:t>gray</a:t>
            </a:r>
            <a:r>
              <a:rPr lang="en-IN" dirty="0"/>
              <a:t> value C2</a:t>
            </a:r>
          </a:p>
          <a:p>
            <a:r>
              <a:rPr lang="en-IN" dirty="0"/>
              <a:t>Step 3. Do 1D bilinear Interpolation vertically between C1 and C2, till a fractional distance h from top. The obtained </a:t>
            </a:r>
            <a:r>
              <a:rPr lang="en-IN" dirty="0" err="1"/>
              <a:t>gray</a:t>
            </a:r>
            <a:r>
              <a:rPr lang="en-IN" dirty="0"/>
              <a:t> value is the Interpolated value.</a:t>
            </a:r>
          </a:p>
        </p:txBody>
      </p:sp>
    </p:spTree>
    <p:extLst>
      <p:ext uri="{BB962C8B-B14F-4D97-AF65-F5344CB8AC3E}">
        <p14:creationId xmlns:p14="http://schemas.microsoft.com/office/powerpoint/2010/main" val="363528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765D-4BE6-DF64-855A-42308339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formula after 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17EB-96B5-B6F0-923D-7C4D64340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classical Formula(After Complete Derivation)</a:t>
            </a:r>
          </a:p>
          <a:p>
            <a:pPr marL="0" indent="0" algn="just">
              <a:buNone/>
            </a:pPr>
            <a:endParaRPr lang="en-IN" dirty="0">
              <a:latin typeface="+mj-lt"/>
            </a:endParaRPr>
          </a:p>
          <a:p>
            <a:pPr algn="just"/>
            <a:r>
              <a:rPr lang="en-IN" dirty="0"/>
              <a:t>|</a:t>
            </a:r>
            <a:r>
              <a:rPr lang="en-IN" dirty="0" err="1"/>
              <a:t>Cy’x</a:t>
            </a:r>
            <a:r>
              <a:rPr lang="en-IN" dirty="0"/>
              <a:t>’&gt; = (1-h)(1-w)|</a:t>
            </a:r>
            <a:r>
              <a:rPr lang="en-IN" dirty="0" err="1"/>
              <a:t>Cyx</a:t>
            </a:r>
            <a:r>
              <a:rPr lang="en-IN" dirty="0"/>
              <a:t>&gt; +h(1-w)|Cy,x+1&gt; +(1-h)w|Cy+1,x&gt; +hw|Cy+1,x+1&gt;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As is evident, all the four neighbours are contributing towards the final </a:t>
            </a:r>
            <a:r>
              <a:rPr lang="en-IN" dirty="0" err="1"/>
              <a:t>gray</a:t>
            </a:r>
            <a:r>
              <a:rPr lang="en-IN" dirty="0"/>
              <a:t> value.</a:t>
            </a:r>
          </a:p>
        </p:txBody>
      </p:sp>
    </p:spTree>
    <p:extLst>
      <p:ext uri="{BB962C8B-B14F-4D97-AF65-F5344CB8AC3E}">
        <p14:creationId xmlns:p14="http://schemas.microsoft.com/office/powerpoint/2010/main" val="386239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D134-E343-5FCE-131C-6711A3BFF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12" y="23918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Mathematical Examples of Finding required Pixels(Neighbours) using Interpolation</a:t>
            </a:r>
          </a:p>
        </p:txBody>
      </p:sp>
    </p:spTree>
    <p:extLst>
      <p:ext uri="{BB962C8B-B14F-4D97-AF65-F5344CB8AC3E}">
        <p14:creationId xmlns:p14="http://schemas.microsoft.com/office/powerpoint/2010/main" val="157688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6933-F4E5-E42F-2996-47F7E760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50C8A-5973-A718-BAAF-6377FDFF8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3" r="-104" b="34718"/>
          <a:stretch>
            <a:fillRect/>
          </a:stretch>
        </p:blipFill>
        <p:spPr>
          <a:xfrm>
            <a:off x="2506744" y="365125"/>
            <a:ext cx="6556770" cy="63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2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3885-C120-A58B-9118-0B7252C3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F15AF5-FF07-A41D-6618-FE7D8F982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50"/>
          <a:stretch>
            <a:fillRect/>
          </a:stretch>
        </p:blipFill>
        <p:spPr>
          <a:xfrm>
            <a:off x="488211" y="365125"/>
            <a:ext cx="7637694" cy="6150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F16C10-CC40-1EC7-0207-DEDF8FB36008}"/>
              </a:ext>
            </a:extLst>
          </p:cNvPr>
          <p:cNvSpPr txBox="1"/>
          <p:nvPr/>
        </p:nvSpPr>
        <p:spPr>
          <a:xfrm>
            <a:off x="8308942" y="365125"/>
            <a:ext cx="304485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the decimal part The row and column positions are deduced from the original image</a:t>
            </a:r>
          </a:p>
          <a:p>
            <a:endParaRPr lang="en-IN" dirty="0"/>
          </a:p>
          <a:p>
            <a:r>
              <a:rPr lang="en-IN" dirty="0"/>
              <a:t>Y value is Row </a:t>
            </a:r>
          </a:p>
          <a:p>
            <a:r>
              <a:rPr lang="en-IN" dirty="0"/>
              <a:t>X value is Column</a:t>
            </a:r>
          </a:p>
          <a:p>
            <a:endParaRPr lang="en-IN" dirty="0"/>
          </a:p>
          <a:p>
            <a:r>
              <a:rPr lang="en-IN" dirty="0"/>
              <a:t>As Y value here is 1.5 We can say the required </a:t>
            </a:r>
            <a:r>
              <a:rPr lang="en-IN" dirty="0" err="1"/>
              <a:t>color</a:t>
            </a:r>
            <a:r>
              <a:rPr lang="en-IN" dirty="0"/>
              <a:t> is between row 1 and 2 of the original image.</a:t>
            </a:r>
          </a:p>
          <a:p>
            <a:r>
              <a:rPr lang="en-IN" dirty="0"/>
              <a:t>Similar for X value. </a:t>
            </a:r>
            <a:r>
              <a:rPr lang="en-IN" dirty="0" err="1"/>
              <a:t>Color</a:t>
            </a:r>
            <a:r>
              <a:rPr lang="en-IN" dirty="0"/>
              <a:t> is 0.33 away from column 2. between cols 2 and 3.</a:t>
            </a:r>
          </a:p>
          <a:p>
            <a:r>
              <a:rPr lang="en-IN" dirty="0"/>
              <a:t>X and Y are floor of these obtained values.(X=2, Y=1)</a:t>
            </a:r>
          </a:p>
          <a:p>
            <a:r>
              <a:rPr lang="en-IN" dirty="0"/>
              <a:t>So to find the </a:t>
            </a:r>
            <a:r>
              <a:rPr lang="en-IN" dirty="0" err="1"/>
              <a:t>color</a:t>
            </a:r>
            <a:r>
              <a:rPr lang="en-IN" dirty="0"/>
              <a:t> the Required </a:t>
            </a:r>
            <a:r>
              <a:rPr lang="en-IN" dirty="0" err="1"/>
              <a:t>gray</a:t>
            </a:r>
            <a:r>
              <a:rPr lang="en-IN" dirty="0"/>
              <a:t> values are-</a:t>
            </a:r>
          </a:p>
          <a:p>
            <a:r>
              <a:rPr lang="en-IN" dirty="0"/>
              <a:t>Row-1 Col-2 |</a:t>
            </a:r>
            <a:r>
              <a:rPr lang="en-IN" dirty="0" err="1"/>
              <a:t>Cy,x</a:t>
            </a:r>
            <a:r>
              <a:rPr lang="en-IN" dirty="0"/>
              <a:t>&gt;</a:t>
            </a:r>
          </a:p>
          <a:p>
            <a:r>
              <a:rPr lang="en-IN" dirty="0"/>
              <a:t>Row-1 Col-3 |Cy,x+1&gt;</a:t>
            </a:r>
          </a:p>
          <a:p>
            <a:r>
              <a:rPr lang="en-IN" dirty="0"/>
              <a:t>Row-2 Col-2 |Cy+1,x&gt; </a:t>
            </a:r>
          </a:p>
          <a:p>
            <a:r>
              <a:rPr lang="en-IN" dirty="0"/>
              <a:t>Row-2 Col-3 |Cy+1,x+1&gt;</a:t>
            </a:r>
          </a:p>
        </p:txBody>
      </p:sp>
    </p:spTree>
    <p:extLst>
      <p:ext uri="{BB962C8B-B14F-4D97-AF65-F5344CB8AC3E}">
        <p14:creationId xmlns:p14="http://schemas.microsoft.com/office/powerpoint/2010/main" val="115095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2284-9508-710E-B4D3-46FC4DD1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611D8-4740-F47C-994B-1456747C6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67"/>
          <a:stretch>
            <a:fillRect/>
          </a:stretch>
        </p:blipFill>
        <p:spPr>
          <a:xfrm>
            <a:off x="1834092" y="-3772"/>
            <a:ext cx="8523815" cy="686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9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63BC-8F71-AD39-377E-40FF577D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problem in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8C52-E2B3-146C-C490-D6C9928D1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derived formula, </a:t>
            </a:r>
          </a:p>
          <a:p>
            <a:pPr marL="514350" indent="-514350">
              <a:buAutoNum type="arabicPeriod"/>
            </a:pPr>
            <a:r>
              <a:rPr lang="en-IN" dirty="0"/>
              <a:t>The factors h and w (fractional distances between two pixels) are fractional and not integers.</a:t>
            </a:r>
          </a:p>
          <a:p>
            <a:pPr marL="514350" indent="-514350">
              <a:buAutoNum type="arabicPeriod"/>
            </a:pPr>
            <a:r>
              <a:rPr lang="en-IN" dirty="0"/>
              <a:t>While representing in Qubits(Binary Form), these values cannot be directly represented on qubits in binary form.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Hence some further transformation to the formula is required for implementing in Quantum.</a:t>
            </a:r>
          </a:p>
        </p:txBody>
      </p:sp>
    </p:spTree>
    <p:extLst>
      <p:ext uri="{BB962C8B-B14F-4D97-AF65-F5344CB8AC3E}">
        <p14:creationId xmlns:p14="http://schemas.microsoft.com/office/powerpoint/2010/main" val="232312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3AB4-AED9-AF94-7006-C1B64544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Transforming the formula to be implemented in quantum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39CD9-180A-7197-8505-385757AE0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the formula we are starting with: (Derived Earlier)</a:t>
            </a:r>
          </a:p>
          <a:p>
            <a:r>
              <a:rPr lang="en-IN" dirty="0"/>
              <a:t>|</a:t>
            </a:r>
            <a:r>
              <a:rPr lang="en-IN" dirty="0" err="1"/>
              <a:t>Cy’x</a:t>
            </a:r>
            <a:r>
              <a:rPr lang="en-IN" dirty="0"/>
              <a:t>’&gt; = (1-h)(1-w)|</a:t>
            </a:r>
            <a:r>
              <a:rPr lang="en-IN" dirty="0" err="1"/>
              <a:t>Cyx</a:t>
            </a:r>
            <a:r>
              <a:rPr lang="en-IN" dirty="0"/>
              <a:t>&gt; +h(1-w)|Cy,x+1&gt; +(1-h)w|Cy+1,x&gt; +hw|Cy+1,x+1&gt;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method described here can be extended to apply on formulas of Bicubic, </a:t>
            </a:r>
            <a:r>
              <a:rPr lang="en-IN" dirty="0" err="1"/>
              <a:t>Biquintic</a:t>
            </a:r>
            <a:r>
              <a:rPr lang="en-IN" dirty="0"/>
              <a:t> and so on and so forth.</a:t>
            </a:r>
          </a:p>
        </p:txBody>
      </p:sp>
    </p:spTree>
    <p:extLst>
      <p:ext uri="{BB962C8B-B14F-4D97-AF65-F5344CB8AC3E}">
        <p14:creationId xmlns:p14="http://schemas.microsoft.com/office/powerpoint/2010/main" val="43413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0E7D-74E7-E0BC-5662-5877CFC1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The scaling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76D70-0889-6F07-7DBE-DFA07FBDF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I want to scale an image up of (2</a:t>
            </a:r>
            <a:r>
              <a:rPr lang="en-IN" baseline="30000" dirty="0"/>
              <a:t>n</a:t>
            </a:r>
            <a:r>
              <a:rPr lang="en-IN" dirty="0"/>
              <a:t> x 2</a:t>
            </a:r>
            <a:r>
              <a:rPr lang="en-IN" baseline="30000" dirty="0"/>
              <a:t>n</a:t>
            </a:r>
            <a:r>
              <a:rPr lang="en-IN" dirty="0"/>
              <a:t>) to (2</a:t>
            </a:r>
            <a:r>
              <a:rPr lang="en-IN" baseline="30000" dirty="0"/>
              <a:t>(</a:t>
            </a:r>
            <a:r>
              <a:rPr lang="en-IN" baseline="30000" dirty="0" err="1"/>
              <a:t>n+m</a:t>
            </a:r>
            <a:r>
              <a:rPr lang="en-IN" baseline="30000" dirty="0"/>
              <a:t>)</a:t>
            </a:r>
            <a:r>
              <a:rPr lang="en-IN" dirty="0"/>
              <a:t>x2</a:t>
            </a:r>
            <a:r>
              <a:rPr lang="en-IN" baseline="30000" dirty="0"/>
              <a:t>(</a:t>
            </a:r>
            <a:r>
              <a:rPr lang="en-IN" baseline="30000" dirty="0" err="1"/>
              <a:t>n+m</a:t>
            </a:r>
            <a:r>
              <a:rPr lang="en-IN" baseline="30000" dirty="0"/>
              <a:t>)</a:t>
            </a:r>
            <a:r>
              <a:rPr lang="en-IN" dirty="0"/>
              <a:t>).</a:t>
            </a:r>
          </a:p>
          <a:p>
            <a:endParaRPr lang="en-IN" dirty="0"/>
          </a:p>
          <a:p>
            <a:r>
              <a:rPr lang="en-IN" dirty="0"/>
              <a:t>Where n is the number of qubits to represent the row and column indices, and m is the extra qubits required to show the upscaled image.</a:t>
            </a:r>
          </a:p>
          <a:p>
            <a:endParaRPr lang="en-IN" dirty="0"/>
          </a:p>
          <a:p>
            <a:r>
              <a:rPr lang="en-IN" dirty="0"/>
              <a:t>The Row scaling ratio becomes-</a:t>
            </a:r>
          </a:p>
          <a:p>
            <a:pPr marL="0" indent="0">
              <a:buNone/>
            </a:pPr>
            <a:r>
              <a:rPr lang="en-IN" dirty="0"/>
              <a:t>RSR=(New Height)/(Old Height)= 2</a:t>
            </a:r>
            <a:r>
              <a:rPr lang="en-IN" baseline="30000" dirty="0"/>
              <a:t>(</a:t>
            </a:r>
            <a:r>
              <a:rPr lang="en-IN" baseline="30000" dirty="0" err="1"/>
              <a:t>n+m</a:t>
            </a:r>
            <a:r>
              <a:rPr lang="en-IN" baseline="30000" dirty="0"/>
              <a:t>)</a:t>
            </a:r>
            <a:r>
              <a:rPr lang="en-IN" dirty="0"/>
              <a:t>/ 2</a:t>
            </a:r>
            <a:r>
              <a:rPr lang="en-IN" baseline="30000" dirty="0"/>
              <a:t>n</a:t>
            </a:r>
            <a:r>
              <a:rPr lang="en-IN" dirty="0"/>
              <a:t>=2</a:t>
            </a:r>
            <a:r>
              <a:rPr lang="en-IN" baseline="30000" dirty="0"/>
              <a:t>m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Column Scaling Ratio, CSR=2</a:t>
            </a:r>
            <a:r>
              <a:rPr lang="en-IN" baseline="30000" dirty="0"/>
              <a:t>m</a:t>
            </a:r>
            <a:r>
              <a:rPr lang="en-IN" dirty="0"/>
              <a:t>, similarly.</a:t>
            </a:r>
          </a:p>
        </p:txBody>
      </p:sp>
    </p:spTree>
    <p:extLst>
      <p:ext uri="{BB962C8B-B14F-4D97-AF65-F5344CB8AC3E}">
        <p14:creationId xmlns:p14="http://schemas.microsoft.com/office/powerpoint/2010/main" val="1813513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EE49-B831-9E4F-F322-AD72531C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scaling constraint(Contd…)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A4A6-877F-B932-E712-D76FF4AAF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Since we know that</a:t>
            </a:r>
          </a:p>
          <a:p>
            <a:r>
              <a:rPr lang="en-IN" dirty="0"/>
              <a:t>(H’/H) = (Y’/Y) But (H’/H) = RSR = 2</a:t>
            </a:r>
            <a:r>
              <a:rPr lang="en-IN" baseline="30000" dirty="0"/>
              <a:t>m</a:t>
            </a:r>
            <a:r>
              <a:rPr lang="en-IN" dirty="0"/>
              <a:t>. Hence</a:t>
            </a:r>
          </a:p>
          <a:p>
            <a:pPr marL="0" indent="0">
              <a:buNone/>
            </a:pPr>
            <a:r>
              <a:rPr lang="en-IN" dirty="0"/>
              <a:t>(Y’/Y) = 2</a:t>
            </a:r>
            <a:r>
              <a:rPr lang="en-IN" baseline="30000" dirty="0"/>
              <a:t>m</a:t>
            </a:r>
            <a:r>
              <a:rPr lang="en-IN" dirty="0"/>
              <a:t>   </a:t>
            </a:r>
            <a:r>
              <a:rPr lang="en-IN" baseline="30000" dirty="0"/>
              <a:t> </a:t>
            </a:r>
            <a:r>
              <a:rPr lang="en-IN" dirty="0"/>
              <a:t>=&gt;  Y=(Y’/2</a:t>
            </a:r>
            <a:r>
              <a:rPr lang="en-IN" baseline="30000" dirty="0"/>
              <a:t>m</a:t>
            </a:r>
            <a:r>
              <a:rPr lang="en-IN" dirty="0"/>
              <a:t>). (floored value)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Similarly X=(X’/2</a:t>
            </a:r>
            <a:r>
              <a:rPr lang="en-IN" baseline="30000" dirty="0"/>
              <a:t>m</a:t>
            </a:r>
            <a:r>
              <a:rPr lang="en-IN" dirty="0"/>
              <a:t>). This  2</a:t>
            </a:r>
            <a:r>
              <a:rPr lang="en-IN" baseline="30000" dirty="0"/>
              <a:t>m</a:t>
            </a:r>
            <a:r>
              <a:rPr lang="en-IN" dirty="0"/>
              <a:t> factor is called the Scaling constraint.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9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91C-722E-D70B-AE69-CDBB8A07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Express </a:t>
            </a:r>
            <a:r>
              <a:rPr lang="en-IN" dirty="0" err="1"/>
              <a:t>h,w</a:t>
            </a:r>
            <a:r>
              <a:rPr lang="en-IN" dirty="0"/>
              <a:t> as integer Remainders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17FB-E623-550F-41C4-DC859F85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Since we know that h and w are the decimal parts of the obtained Y values.</a:t>
            </a:r>
          </a:p>
          <a:p>
            <a:pPr marL="0" indent="0">
              <a:buNone/>
            </a:pPr>
            <a:r>
              <a:rPr lang="en-IN" dirty="0"/>
              <a:t>h= fractional part of (Y’/2</a:t>
            </a:r>
            <a:r>
              <a:rPr lang="en-IN" baseline="30000" dirty="0"/>
              <a:t>m</a:t>
            </a:r>
            <a:r>
              <a:rPr lang="en-IN" dirty="0"/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IN" dirty="0"/>
              <a:t>h=(Y’/2</a:t>
            </a:r>
            <a:r>
              <a:rPr lang="en-IN" baseline="30000" dirty="0"/>
              <a:t>m</a:t>
            </a:r>
            <a:r>
              <a:rPr lang="en-IN" dirty="0"/>
              <a:t>) – floor(Y’/2</a:t>
            </a:r>
            <a:r>
              <a:rPr lang="en-IN" baseline="30000" dirty="0"/>
              <a:t>m</a:t>
            </a:r>
            <a:r>
              <a:rPr lang="en-IN" dirty="0"/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IN" dirty="0"/>
              <a:t>h=(Y’/2</a:t>
            </a:r>
            <a:r>
              <a:rPr lang="en-IN" baseline="30000" dirty="0"/>
              <a:t>m</a:t>
            </a:r>
            <a:r>
              <a:rPr lang="en-IN" dirty="0"/>
              <a:t>) – Y   					[Since Y=floor(Y’/2</a:t>
            </a:r>
            <a:r>
              <a:rPr lang="en-IN" baseline="30000" dirty="0"/>
              <a:t>m</a:t>
            </a:r>
            <a:r>
              <a:rPr lang="en-IN" dirty="0"/>
              <a:t>)]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IN" dirty="0"/>
              <a:t>h=(Y’-(2</a:t>
            </a:r>
            <a:r>
              <a:rPr lang="en-IN" baseline="30000" dirty="0"/>
              <a:t>m </a:t>
            </a:r>
            <a:r>
              <a:rPr lang="en-IN" dirty="0"/>
              <a:t>* Y))/2</a:t>
            </a:r>
            <a:r>
              <a:rPr lang="en-IN" baseline="30000" dirty="0"/>
              <a:t>m</a:t>
            </a:r>
            <a:r>
              <a:rPr lang="en-IN" dirty="0"/>
              <a:t> 				[On Simplification]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Similarly w=(X’-(2</a:t>
            </a:r>
            <a:r>
              <a:rPr lang="en-IN" baseline="30000" dirty="0"/>
              <a:t>m </a:t>
            </a:r>
            <a:r>
              <a:rPr lang="en-IN" dirty="0"/>
              <a:t>* X))/2</a:t>
            </a:r>
            <a:r>
              <a:rPr lang="en-IN" baseline="30000" dirty="0"/>
              <a:t>m</a:t>
            </a:r>
            <a:r>
              <a:rPr lang="en-IN" dirty="0"/>
              <a:t> . </a:t>
            </a:r>
          </a:p>
          <a:p>
            <a:pPr>
              <a:buFont typeface="Symbol" panose="05050102010706020507" pitchFamily="18" charset="2"/>
              <a:buChar char="Þ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805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6491-7115-B9A4-5458-88FCA101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Substitute these values back into the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8CA5-A450-62E6-B104-F2BB63C8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 Substituting the new h and w values in the formula</a:t>
            </a:r>
          </a:p>
          <a:p>
            <a:pPr marL="0" indent="0">
              <a:buNone/>
            </a:pPr>
            <a:r>
              <a:rPr lang="en-IN" dirty="0"/>
              <a:t>|</a:t>
            </a:r>
            <a:r>
              <a:rPr lang="en-IN" dirty="0" err="1"/>
              <a:t>Cy’x</a:t>
            </a:r>
            <a:r>
              <a:rPr lang="en-IN" dirty="0"/>
              <a:t>’&gt; = (1-h)(1-w)|</a:t>
            </a:r>
            <a:r>
              <a:rPr lang="en-IN" dirty="0" err="1"/>
              <a:t>Cyx</a:t>
            </a:r>
            <a:r>
              <a:rPr lang="en-IN" dirty="0"/>
              <a:t>&gt; +h(1-w)|Cy,x+1&gt; +(1-h)w|Cy+1,x&gt; +hw|Cy+1,x+1&gt;</a:t>
            </a:r>
          </a:p>
          <a:p>
            <a:pPr marL="0" indent="0">
              <a:buNone/>
            </a:pPr>
            <a:r>
              <a:rPr lang="en-IN" dirty="0"/>
              <a:t>and simplifying</a:t>
            </a:r>
          </a:p>
          <a:p>
            <a:r>
              <a:rPr lang="en-IN" dirty="0"/>
              <a:t>We have: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9624F-3329-1B61-D775-0C5881A3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37" y="4264145"/>
            <a:ext cx="10679925" cy="247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25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AB20-2608-3E17-9537-1ABF80FF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Determination of number of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21DE-3822-5F81-B0CC-03B41BF07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the derived formula, The number of operations is equal to the number of corresponding gates used in the circuit.</a:t>
            </a:r>
          </a:p>
          <a:p>
            <a:r>
              <a:rPr lang="en-IN" dirty="0"/>
              <a:t>For example: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 can see- 2 Division (ND) gates, 3 Addition gates(PA), and the subtraction and multiplication gates as many times as the respective operators appear in the expression.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11853-C59F-F8BA-1585-7FB510E52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90" b="19542"/>
          <a:stretch>
            <a:fillRect/>
          </a:stretch>
        </p:blipFill>
        <p:spPr>
          <a:xfrm>
            <a:off x="1433519" y="3136769"/>
            <a:ext cx="8702794" cy="13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AE0DF5-E10A-B074-1ED7-98AE9E2C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45" y="0"/>
            <a:ext cx="9980808" cy="67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98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905</Words>
  <Application>Microsoft Office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Office Theme</vt:lpstr>
      <vt:lpstr>Image Upscaling using Quantum Bilinear Interpolation</vt:lpstr>
      <vt:lpstr>Bilinear Interpolation in General (1D)</vt:lpstr>
      <vt:lpstr>PowerPoint Presentation</vt:lpstr>
      <vt:lpstr>Bilinear Interpolation Method In image pixels (2D)</vt:lpstr>
      <vt:lpstr>How to arrive at the final formula:</vt:lpstr>
      <vt:lpstr>Final formula after derivation</vt:lpstr>
      <vt:lpstr>Mathematical Examples of Finding required Pixels(Neighbours) using Interpolation</vt:lpstr>
      <vt:lpstr>PowerPoint Presentation</vt:lpstr>
      <vt:lpstr>PowerPoint Presentation</vt:lpstr>
      <vt:lpstr>PowerPoint Presentation</vt:lpstr>
      <vt:lpstr>What is the problem in Quantum?</vt:lpstr>
      <vt:lpstr>Transforming the formula to be implemented in quantum</vt:lpstr>
      <vt:lpstr>Step 1: The scaling constraint</vt:lpstr>
      <vt:lpstr>The scaling constraint(Contd…)</vt:lpstr>
      <vt:lpstr>Step 2: Express h,w as integer Remainders</vt:lpstr>
      <vt:lpstr>Step 3: Substitute these values back into the formula</vt:lpstr>
      <vt:lpstr>Determination of number of gates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Anshuman Sahu</dc:creator>
  <cp:lastModifiedBy>Anshuman Sahu</cp:lastModifiedBy>
  <cp:revision>2</cp:revision>
  <dcterms:created xsi:type="dcterms:W3CDTF">2026-07-14T09:54:47Z</dcterms:created>
  <dcterms:modified xsi:type="dcterms:W3CDTF">2026-07-14T11:30:06Z</dcterms:modified>
</cp:coreProperties>
</file>